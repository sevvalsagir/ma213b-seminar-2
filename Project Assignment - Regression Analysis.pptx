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419" r:id="rId5"/>
    <p:sldId id="435" r:id="rId6"/>
    <p:sldId id="444" r:id="rId7"/>
    <p:sldId id="443" r:id="rId8"/>
    <p:sldId id="446" r:id="rId9"/>
    <p:sldId id="447" r:id="rId10"/>
    <p:sldId id="448" r:id="rId11"/>
    <p:sldId id="449" r:id="rId12"/>
    <p:sldId id="450" r:id="rId13"/>
    <p:sldId id="451" r:id="rId14"/>
    <p:sldId id="452" r:id="rId15"/>
    <p:sldId id="453" r:id="rId16"/>
    <p:sldId id="454" r:id="rId17"/>
    <p:sldId id="455" r:id="rId18"/>
    <p:sldId id="456" r:id="rId19"/>
    <p:sldId id="457" r:id="rId20"/>
    <p:sldId id="442" r:id="rId21"/>
    <p:sldId id="445" r:id="rId22"/>
  </p:sldIdLst>
  <p:sldSz cx="9144000" cy="5143500" type="screen16x9"/>
  <p:notesSz cx="6784975" cy="9906000"/>
  <p:defaultTextStyle>
    <a:defPPr>
      <a:defRPr lang="sv-S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315" userDrawn="1">
          <p15:clr>
            <a:srgbClr val="A4A3A4"/>
          </p15:clr>
        </p15:guide>
        <p15:guide id="4" pos="44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AA00"/>
    <a:srgbClr val="D0E2CB"/>
    <a:srgbClr val="222222"/>
    <a:srgbClr val="46B400"/>
    <a:srgbClr val="50A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17CE6A-4C88-094D-ADC2-CF20F04A6B48}" v="24" dt="2025-05-02T10:37:49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just forma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just format 2 - Dekorfärg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just format 3 - Dekorfärg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69"/>
    <p:restoredTop sz="88205" autoAdjust="0"/>
  </p:normalViewPr>
  <p:slideViewPr>
    <p:cSldViewPr snapToGrid="0">
      <p:cViewPr>
        <p:scale>
          <a:sx n="78" d="100"/>
          <a:sy n="78" d="100"/>
        </p:scale>
        <p:origin x="3080" y="1496"/>
      </p:cViewPr>
      <p:guideLst>
        <p:guide orient="horz" pos="1620"/>
        <p:guide pos="2880"/>
        <p:guide pos="1315"/>
        <p:guide pos="44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0156" cy="495300"/>
          </a:xfrm>
          <a:prstGeom prst="rect">
            <a:avLst/>
          </a:prstGeom>
        </p:spPr>
        <p:txBody>
          <a:bodyPr vert="horz" lIns="91230" tIns="45615" rIns="91230" bIns="456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3843249" y="1"/>
            <a:ext cx="2940156" cy="495300"/>
          </a:xfrm>
          <a:prstGeom prst="rect">
            <a:avLst/>
          </a:prstGeom>
        </p:spPr>
        <p:txBody>
          <a:bodyPr vert="horz" wrap="square" lIns="91230" tIns="45615" rIns="91230" bIns="4561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BE2E8362-7B74-CD41-BED9-51C895E0F26E}" type="datetime1">
              <a:rPr lang="sv-SE"/>
              <a:pPr/>
              <a:t>2025-05-01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940156" cy="495300"/>
          </a:xfrm>
          <a:prstGeom prst="rect">
            <a:avLst/>
          </a:prstGeom>
        </p:spPr>
        <p:txBody>
          <a:bodyPr vert="horz" lIns="91230" tIns="45615" rIns="91230" bIns="456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3843249" y="9408981"/>
            <a:ext cx="2940156" cy="495300"/>
          </a:xfrm>
          <a:prstGeom prst="rect">
            <a:avLst/>
          </a:prstGeom>
        </p:spPr>
        <p:txBody>
          <a:bodyPr vert="horz" wrap="square" lIns="91230" tIns="45615" rIns="91230" bIns="4561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6D9D900B-F64A-7D40-A107-5788E4736ED6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205633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0156" cy="495300"/>
          </a:xfrm>
          <a:prstGeom prst="rect">
            <a:avLst/>
          </a:prstGeom>
        </p:spPr>
        <p:txBody>
          <a:bodyPr vert="horz" lIns="91230" tIns="45615" rIns="91230" bIns="456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43249" y="1"/>
            <a:ext cx="2940156" cy="495300"/>
          </a:xfrm>
          <a:prstGeom prst="rect">
            <a:avLst/>
          </a:prstGeom>
        </p:spPr>
        <p:txBody>
          <a:bodyPr vert="horz" wrap="square" lIns="91230" tIns="45615" rIns="91230" bIns="4561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42B30327-357F-3343-805F-CF1F05C4CF93}" type="datetime1">
              <a:rPr lang="sv-SE"/>
              <a:pPr/>
              <a:t>2025-05-01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2950"/>
            <a:ext cx="6604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30" tIns="45615" rIns="91230" bIns="45615" rtlCol="0" anchor="ctr"/>
          <a:lstStyle/>
          <a:p>
            <a:pPr lvl="0"/>
            <a:endParaRPr lang="sv-SE" noProof="0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78498" y="4705350"/>
            <a:ext cx="5427980" cy="4457700"/>
          </a:xfrm>
          <a:prstGeom prst="rect">
            <a:avLst/>
          </a:prstGeom>
        </p:spPr>
        <p:txBody>
          <a:bodyPr vert="horz" lIns="91230" tIns="45615" rIns="91230" bIns="45615" rtlCol="0">
            <a:normAutofit/>
          </a:bodyPr>
          <a:lstStyle/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0156" cy="495300"/>
          </a:xfrm>
          <a:prstGeom prst="rect">
            <a:avLst/>
          </a:prstGeom>
        </p:spPr>
        <p:txBody>
          <a:bodyPr vert="horz" lIns="91230" tIns="45615" rIns="91230" bIns="456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43249" y="9408981"/>
            <a:ext cx="2940156" cy="495300"/>
          </a:xfrm>
          <a:prstGeom prst="rect">
            <a:avLst/>
          </a:prstGeom>
        </p:spPr>
        <p:txBody>
          <a:bodyPr vert="horz" wrap="square" lIns="91230" tIns="45615" rIns="91230" bIns="4561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E2B1B8E9-9BE0-194F-B3CF-D6D0B7B1DAE8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29733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1B8E9-9BE0-194F-B3CF-D6D0B7B1DAE8}" type="slidenum">
              <a:rPr lang="sv-SE" smtClean="0"/>
              <a:pPr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49212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sida grö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med rundade hörn 2">
            <a:extLst>
              <a:ext uri="{FF2B5EF4-FFF2-40B4-BE49-F238E27FC236}">
                <a16:creationId xmlns:a16="http://schemas.microsoft.com/office/drawing/2014/main" id="{59EEB9C8-53DD-2644-AFDF-D528FA12EB59}"/>
              </a:ext>
            </a:extLst>
          </p:cNvPr>
          <p:cNvSpPr>
            <a:spLocks/>
          </p:cNvSpPr>
          <p:nvPr userDrawn="1"/>
        </p:nvSpPr>
        <p:spPr>
          <a:xfrm>
            <a:off x="180000" y="180000"/>
            <a:ext cx="8784000" cy="4784400"/>
          </a:xfrm>
          <a:prstGeom prst="roundRect">
            <a:avLst>
              <a:gd name="adj" fmla="val 1131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ubrik 1">
            <a:extLst>
              <a:ext uri="{FF2B5EF4-FFF2-40B4-BE49-F238E27FC236}">
                <a16:creationId xmlns:a16="http://schemas.microsoft.com/office/drawing/2014/main" id="{E72E7D31-94C4-DE48-83EC-392FA0EE0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998" y="330025"/>
            <a:ext cx="8784000" cy="4500000"/>
          </a:xfrm>
        </p:spPr>
        <p:txBody>
          <a:bodyPr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 för </a:t>
            </a:r>
            <a:br>
              <a:rPr lang="sv-SE" dirty="0"/>
            </a:br>
            <a:r>
              <a:rPr lang="sv-SE" dirty="0"/>
              <a:t>att lägga till text</a:t>
            </a:r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B5115A27-418C-8D4D-85A5-16E94911E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092497"/>
            <a:ext cx="6400800" cy="591011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CC7DE8E6-8B99-6E4C-A9DC-BC74E3FDE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676" y="14061"/>
            <a:ext cx="2738572" cy="1533600"/>
          </a:xfrm>
          <a:prstGeom prst="rect">
            <a:avLst/>
          </a:prstGeom>
        </p:spPr>
      </p:pic>
      <p:sp>
        <p:nvSpPr>
          <p:cNvPr id="2" name="Platshållare för bildnummer 5">
            <a:extLst>
              <a:ext uri="{FF2B5EF4-FFF2-40B4-BE49-F238E27FC236}">
                <a16:creationId xmlns:a16="http://schemas.microsoft.com/office/drawing/2014/main" id="{B3C86205-D3F5-33B1-44A8-EBBD97535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2783" y="4963500"/>
            <a:ext cx="541217" cy="180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10C4E4B-DC7F-8F40-B47C-DF522102C54B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10AE8DDC-F72F-591C-FC4F-5732D1E9A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1723" y="4962854"/>
            <a:ext cx="961545" cy="182193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>
                    <a:lumMod val="50000"/>
                  </a:schemeClr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78286638-E000-784D-B9E7-19A664CA2261}" type="datetime1">
              <a:rPr lang="sv-SE" smtClean="0"/>
              <a:t>2025-05-01</a:t>
            </a:fld>
            <a:endParaRPr lang="sv-SE" dirty="0"/>
          </a:p>
        </p:txBody>
      </p:sp>
      <p:sp>
        <p:nvSpPr>
          <p:cNvPr id="6" name="Platshållare för sidfot 4">
            <a:extLst>
              <a:ext uri="{FF2B5EF4-FFF2-40B4-BE49-F238E27FC236}">
                <a16:creationId xmlns:a16="http://schemas.microsoft.com/office/drawing/2014/main" id="{9080FABE-FB14-3CA4-DE99-B5C846EC0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13268" y="4963500"/>
            <a:ext cx="2895600" cy="1800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sv-SE"/>
              <a:t>Sidfot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36231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685800" y="1597825"/>
            <a:ext cx="7772400" cy="1102519"/>
          </a:xfrm>
        </p:spPr>
        <p:txBody>
          <a:bodyPr/>
          <a:lstStyle/>
          <a:p>
            <a:r>
              <a:rPr lang="sv-SE" dirty="0"/>
              <a:t>Klicka här för att lägga till text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A1842627-ACF1-F680-7A6E-8598939F8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2783" y="4963500"/>
            <a:ext cx="541217" cy="180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10C4E4B-DC7F-8F40-B47C-DF522102C54B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59FF488B-DFB1-59FE-1EE3-EE822D3E1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1723" y="4962854"/>
            <a:ext cx="961545" cy="182193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>
                    <a:lumMod val="50000"/>
                  </a:schemeClr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78286638-E000-784D-B9E7-19A664CA2261}" type="datetime1">
              <a:rPr lang="sv-SE" smtClean="0"/>
              <a:t>2025-05-01</a:t>
            </a:fld>
            <a:endParaRPr lang="sv-SE" dirty="0"/>
          </a:p>
        </p:txBody>
      </p:sp>
      <p:sp>
        <p:nvSpPr>
          <p:cNvPr id="6" name="Platshållare för sidfot 4">
            <a:extLst>
              <a:ext uri="{FF2B5EF4-FFF2-40B4-BE49-F238E27FC236}">
                <a16:creationId xmlns:a16="http://schemas.microsoft.com/office/drawing/2014/main" id="{43A203A9-1B77-09D1-EB41-D9838545F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13268" y="4963500"/>
            <a:ext cx="2895600" cy="1800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sv-SE"/>
              <a:t>Sidfot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4782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lägga till text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 hasCustomPrompt="1"/>
          </p:nvPr>
        </p:nvSpPr>
        <p:spPr>
          <a:xfrm>
            <a:off x="539999" y="1340827"/>
            <a:ext cx="8229600" cy="339447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E7B07628-6B43-91C3-13B5-083B33817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2783" y="4963500"/>
            <a:ext cx="541217" cy="180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10C4E4B-DC7F-8F40-B47C-DF522102C54B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977B3B99-0DAA-FEEE-E463-9761320A76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1723" y="4962854"/>
            <a:ext cx="961545" cy="182193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>
                    <a:lumMod val="50000"/>
                  </a:schemeClr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78286638-E000-784D-B9E7-19A664CA2261}" type="datetime1">
              <a:rPr lang="sv-SE" smtClean="0"/>
              <a:t>2025-05-01</a:t>
            </a:fld>
            <a:endParaRPr lang="sv-SE" dirty="0"/>
          </a:p>
        </p:txBody>
      </p:sp>
      <p:sp>
        <p:nvSpPr>
          <p:cNvPr id="6" name="Platshållare för sidfot 4">
            <a:extLst>
              <a:ext uri="{FF2B5EF4-FFF2-40B4-BE49-F238E27FC236}">
                <a16:creationId xmlns:a16="http://schemas.microsoft.com/office/drawing/2014/main" id="{1A0883AE-819F-7F18-BDBD-3E4DF7C37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13268" y="4963500"/>
            <a:ext cx="2895600" cy="1800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sv-SE"/>
              <a:t>Sidfot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050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 dirty="0"/>
              <a:t>Klicka här för att lägga till text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 hasCustomPrompt="1"/>
          </p:nvPr>
        </p:nvSpPr>
        <p:spPr>
          <a:xfrm>
            <a:off x="540000" y="1339200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 hasCustomPrompt="1"/>
          </p:nvPr>
        </p:nvSpPr>
        <p:spPr>
          <a:xfrm>
            <a:off x="4731000" y="1339200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6EBDEE98-1DD4-3275-AA8A-2CB2F66C6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2783" y="4963500"/>
            <a:ext cx="541217" cy="180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10C4E4B-DC7F-8F40-B47C-DF522102C54B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227BBCB5-0AB4-110D-0EC9-DEE436E9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1723" y="4962854"/>
            <a:ext cx="961545" cy="182193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>
                    <a:lumMod val="50000"/>
                  </a:schemeClr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78286638-E000-784D-B9E7-19A664CA2261}" type="datetime1">
              <a:rPr lang="sv-SE" smtClean="0"/>
              <a:t>2025-05-01</a:t>
            </a:fld>
            <a:endParaRPr lang="sv-SE" dirty="0"/>
          </a:p>
        </p:txBody>
      </p:sp>
      <p:sp>
        <p:nvSpPr>
          <p:cNvPr id="7" name="Platshållare för sidfot 4">
            <a:extLst>
              <a:ext uri="{FF2B5EF4-FFF2-40B4-BE49-F238E27FC236}">
                <a16:creationId xmlns:a16="http://schemas.microsoft.com/office/drawing/2014/main" id="{94F4BDBA-8F0B-08AD-AED7-D620FF828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13268" y="4963500"/>
            <a:ext cx="2895600" cy="1800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sv-SE"/>
              <a:t>Sidfot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293883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 dirty="0"/>
              <a:t>Klicka här för att lägga till text</a:t>
            </a:r>
          </a:p>
        </p:txBody>
      </p:sp>
      <p:sp>
        <p:nvSpPr>
          <p:cNvPr id="3" name="Platshållare för bildnummer 5">
            <a:extLst>
              <a:ext uri="{FF2B5EF4-FFF2-40B4-BE49-F238E27FC236}">
                <a16:creationId xmlns:a16="http://schemas.microsoft.com/office/drawing/2014/main" id="{77A7E406-B850-0E74-66B3-325DFE8F0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2783" y="4963500"/>
            <a:ext cx="541217" cy="180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10C4E4B-DC7F-8F40-B47C-DF522102C54B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9DC8E8-85F6-AD3C-6B23-D496D7FA3F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1723" y="4962854"/>
            <a:ext cx="961545" cy="182193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>
                    <a:lumMod val="50000"/>
                  </a:schemeClr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78286638-E000-784D-B9E7-19A664CA2261}" type="datetime1">
              <a:rPr lang="sv-SE" smtClean="0"/>
              <a:t>2025-05-01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D7077E1-248D-26C8-DA49-3491B60CD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13268" y="4963500"/>
            <a:ext cx="2895600" cy="1800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sv-SE"/>
              <a:t>Sidfot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04440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m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nummer 5">
            <a:extLst>
              <a:ext uri="{FF2B5EF4-FFF2-40B4-BE49-F238E27FC236}">
                <a16:creationId xmlns:a16="http://schemas.microsoft.com/office/drawing/2014/main" id="{9F42B225-B8FE-B724-108B-B92738A0E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2783" y="4963500"/>
            <a:ext cx="541217" cy="180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10C4E4B-DC7F-8F40-B47C-DF522102C54B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0150413F-9B32-5A62-58AF-C2D9E5F086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1723" y="4962854"/>
            <a:ext cx="961545" cy="182193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>
                    <a:lumMod val="50000"/>
                  </a:schemeClr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78286638-E000-784D-B9E7-19A664CA2261}" type="datetime1">
              <a:rPr lang="sv-SE" smtClean="0"/>
              <a:t>2025-05-01</a:t>
            </a:fld>
            <a:endParaRPr lang="sv-SE" dirty="0"/>
          </a:p>
        </p:txBody>
      </p:sp>
      <p:sp>
        <p:nvSpPr>
          <p:cNvPr id="4" name="Platshållare för sidfot 4">
            <a:extLst>
              <a:ext uri="{FF2B5EF4-FFF2-40B4-BE49-F238E27FC236}">
                <a16:creationId xmlns:a16="http://schemas.microsoft.com/office/drawing/2014/main" id="{A5CD1637-61BA-77F4-25DB-741E95DB5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13268" y="4963500"/>
            <a:ext cx="2895600" cy="1800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sv-SE"/>
              <a:t>Sidfot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51903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1">
            <a:extLst>
              <a:ext uri="{FF2B5EF4-FFF2-40B4-BE49-F238E27FC236}">
                <a16:creationId xmlns:a16="http://schemas.microsoft.com/office/drawing/2014/main" id="{89F2472A-8E06-1847-97AD-4C6908C7ED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999" y="179100"/>
            <a:ext cx="8783999" cy="4784400"/>
          </a:xfrm>
        </p:spPr>
        <p:txBody>
          <a:bodyPr/>
          <a:lstStyle>
            <a:lvl1pPr algn="ctr">
              <a:defRPr sz="3500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lägga till text</a:t>
            </a:r>
          </a:p>
        </p:txBody>
      </p:sp>
      <p:sp>
        <p:nvSpPr>
          <p:cNvPr id="2" name="Platshållare för bildnummer 5">
            <a:extLst>
              <a:ext uri="{FF2B5EF4-FFF2-40B4-BE49-F238E27FC236}">
                <a16:creationId xmlns:a16="http://schemas.microsoft.com/office/drawing/2014/main" id="{DE349284-16DF-F1CC-7979-F8E2701F0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2783" y="4963500"/>
            <a:ext cx="541217" cy="180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10C4E4B-DC7F-8F40-B47C-DF522102C54B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481A4FFA-A918-509E-F649-2C435122E1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1723" y="4962854"/>
            <a:ext cx="961545" cy="182193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>
                    <a:lumMod val="50000"/>
                  </a:schemeClr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78286638-E000-784D-B9E7-19A664CA2261}" type="datetime1">
              <a:rPr lang="sv-SE" smtClean="0"/>
              <a:t>2025-05-01</a:t>
            </a:fld>
            <a:endParaRPr lang="sv-SE" dirty="0"/>
          </a:p>
        </p:txBody>
      </p:sp>
      <p:sp>
        <p:nvSpPr>
          <p:cNvPr id="4" name="Platshållare för sidfot 4">
            <a:extLst>
              <a:ext uri="{FF2B5EF4-FFF2-40B4-BE49-F238E27FC236}">
                <a16:creationId xmlns:a16="http://schemas.microsoft.com/office/drawing/2014/main" id="{D41B817F-01CB-7CCB-1914-4E577647C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13268" y="4963500"/>
            <a:ext cx="2895600" cy="1800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sv-SE"/>
              <a:t>Sidfot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93704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indel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med rundade hörn 2">
            <a:extLst>
              <a:ext uri="{FF2B5EF4-FFF2-40B4-BE49-F238E27FC236}">
                <a16:creationId xmlns:a16="http://schemas.microsoft.com/office/drawing/2014/main" id="{EC7A2B57-2D06-DB4B-9D83-CA353E8C08D2}"/>
              </a:ext>
            </a:extLst>
          </p:cNvPr>
          <p:cNvSpPr>
            <a:spLocks/>
          </p:cNvSpPr>
          <p:nvPr userDrawn="1"/>
        </p:nvSpPr>
        <p:spPr>
          <a:xfrm>
            <a:off x="180000" y="180000"/>
            <a:ext cx="8784000" cy="4784400"/>
          </a:xfrm>
          <a:prstGeom prst="roundRect">
            <a:avLst>
              <a:gd name="adj" fmla="val 1131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ubrik 1">
            <a:extLst>
              <a:ext uri="{FF2B5EF4-FFF2-40B4-BE49-F238E27FC236}">
                <a16:creationId xmlns:a16="http://schemas.microsoft.com/office/drawing/2014/main" id="{939D7C24-3561-714A-81E7-5D10B779B9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998" y="179100"/>
            <a:ext cx="8784000" cy="4500000"/>
          </a:xfrm>
        </p:spPr>
        <p:txBody>
          <a:bodyPr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 för att lägga till text</a:t>
            </a: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BFCEB3F4-4EEC-CF4D-88ED-6CCD9D541C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99093" y="4054475"/>
            <a:ext cx="1728392" cy="967900"/>
          </a:xfrm>
          <a:prstGeom prst="rect">
            <a:avLst/>
          </a:prstGeom>
        </p:spPr>
      </p:pic>
      <p:sp>
        <p:nvSpPr>
          <p:cNvPr id="2" name="Platshållare för bildnummer 5">
            <a:extLst>
              <a:ext uri="{FF2B5EF4-FFF2-40B4-BE49-F238E27FC236}">
                <a16:creationId xmlns:a16="http://schemas.microsoft.com/office/drawing/2014/main" id="{92C1C441-1EEF-6AEE-30F6-98C3D63D2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2783" y="4963500"/>
            <a:ext cx="541217" cy="180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10C4E4B-DC7F-8F40-B47C-DF522102C54B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14FE3BE3-8D3A-3606-7C53-539C666A98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1723" y="4962854"/>
            <a:ext cx="961545" cy="182193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>
                    <a:lumMod val="50000"/>
                  </a:schemeClr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78286638-E000-784D-B9E7-19A664CA2261}" type="datetime1">
              <a:rPr lang="sv-SE" smtClean="0"/>
              <a:t>2025-05-01</a:t>
            </a:fld>
            <a:endParaRPr lang="sv-SE" dirty="0"/>
          </a:p>
        </p:txBody>
      </p:sp>
      <p:sp>
        <p:nvSpPr>
          <p:cNvPr id="6" name="Platshållare för sidfot 4">
            <a:extLst>
              <a:ext uri="{FF2B5EF4-FFF2-40B4-BE49-F238E27FC236}">
                <a16:creationId xmlns:a16="http://schemas.microsoft.com/office/drawing/2014/main" id="{46F7BFE8-2855-B42C-532A-13F5FE5F5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13268" y="4963500"/>
            <a:ext cx="2895600" cy="1800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sv-SE"/>
              <a:t>Sidfot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023301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 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innehåll 2">
            <a:extLst>
              <a:ext uri="{FF2B5EF4-FFF2-40B4-BE49-F238E27FC236}">
                <a16:creationId xmlns:a16="http://schemas.microsoft.com/office/drawing/2014/main" id="{905736C0-F3D2-1A43-AD76-D10F8DB2BE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0000" y="180000"/>
            <a:ext cx="8784000" cy="4784400"/>
          </a:xfrm>
          <a:prstGeom prst="roundRect">
            <a:avLst>
              <a:gd name="adj" fmla="val 979"/>
            </a:avLst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sv-SE"/>
              <a:t>Lägg till innehåll</a:t>
            </a:r>
          </a:p>
        </p:txBody>
      </p:sp>
      <p:sp>
        <p:nvSpPr>
          <p:cNvPr id="2" name="Platshållare för bildnummer 5">
            <a:extLst>
              <a:ext uri="{FF2B5EF4-FFF2-40B4-BE49-F238E27FC236}">
                <a16:creationId xmlns:a16="http://schemas.microsoft.com/office/drawing/2014/main" id="{3CEC8D71-7F9A-A176-C9DC-05FA99165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2783" y="4963500"/>
            <a:ext cx="541217" cy="180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10C4E4B-DC7F-8F40-B47C-DF522102C54B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CF8A44FC-A74A-A756-B1AE-721A58AAB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1723" y="4962854"/>
            <a:ext cx="961545" cy="182193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>
                    <a:lumMod val="50000"/>
                  </a:schemeClr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78286638-E000-784D-B9E7-19A664CA2261}" type="datetime1">
              <a:rPr lang="sv-SE" smtClean="0"/>
              <a:t>2025-05-01</a:t>
            </a:fld>
            <a:endParaRPr lang="sv-SE" dirty="0"/>
          </a:p>
        </p:txBody>
      </p:sp>
      <p:sp>
        <p:nvSpPr>
          <p:cNvPr id="4" name="Platshållare för sidfot 4">
            <a:extLst>
              <a:ext uri="{FF2B5EF4-FFF2-40B4-BE49-F238E27FC236}">
                <a16:creationId xmlns:a16="http://schemas.microsoft.com/office/drawing/2014/main" id="{50611D07-40EB-139A-47A2-9B5CBBCBB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13268" y="4963500"/>
            <a:ext cx="2895600" cy="1800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sv-SE"/>
              <a:t>Sidfot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3301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ut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med rundade hörn 4">
            <a:extLst>
              <a:ext uri="{FF2B5EF4-FFF2-40B4-BE49-F238E27FC236}">
                <a16:creationId xmlns:a16="http://schemas.microsoft.com/office/drawing/2014/main" id="{4FA511EC-E53B-3B46-BE46-855079D42B16}"/>
              </a:ext>
            </a:extLst>
          </p:cNvPr>
          <p:cNvSpPr>
            <a:spLocks/>
          </p:cNvSpPr>
          <p:nvPr userDrawn="1"/>
        </p:nvSpPr>
        <p:spPr>
          <a:xfrm>
            <a:off x="180000" y="180000"/>
            <a:ext cx="8784000" cy="4784400"/>
          </a:xfrm>
          <a:prstGeom prst="roundRect">
            <a:avLst>
              <a:gd name="adj" fmla="val 1131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A418376C-6D6C-DB44-96B3-C415B2071ED5}"/>
              </a:ext>
            </a:extLst>
          </p:cNvPr>
          <p:cNvSpPr txBox="1"/>
          <p:nvPr userDrawn="1"/>
        </p:nvSpPr>
        <p:spPr>
          <a:xfrm>
            <a:off x="180000" y="1842742"/>
            <a:ext cx="878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4000" b="1" dirty="0" err="1">
                <a:solidFill>
                  <a:schemeClr val="bg1"/>
                </a:solidFill>
                <a:ea typeface="+mn-lt"/>
                <a:cs typeface="+mn-lt"/>
              </a:rPr>
              <a:t>www.hkr.se</a:t>
            </a:r>
            <a:r>
              <a:rPr lang="sv-SE" sz="4000" b="1" dirty="0">
                <a:solidFill>
                  <a:schemeClr val="bg1"/>
                </a:solidFill>
                <a:ea typeface="+mn-lt"/>
                <a:cs typeface="+mn-lt"/>
              </a:rPr>
              <a:t>/en</a:t>
            </a:r>
            <a:endParaRPr lang="sv-SE" sz="4000" b="1" dirty="0">
              <a:solidFill>
                <a:schemeClr val="bg1"/>
              </a:solidFill>
            </a:endParaRP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7FF095BE-5D54-3D4C-B824-DE1A4D2B60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99093" y="4054475"/>
            <a:ext cx="1728392" cy="967900"/>
          </a:xfrm>
          <a:prstGeom prst="rect">
            <a:avLst/>
          </a:prstGeom>
        </p:spPr>
      </p:pic>
      <p:pic>
        <p:nvPicPr>
          <p:cNvPr id="10" name="Bildobjekt 9">
            <a:extLst>
              <a:ext uri="{FF2B5EF4-FFF2-40B4-BE49-F238E27FC236}">
                <a16:creationId xmlns:a16="http://schemas.microsoft.com/office/drawing/2014/main" id="{0A0FFF03-3BBE-7044-BAAD-7B21D3CE92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87260" y="1949184"/>
            <a:ext cx="2778280" cy="1965608"/>
          </a:xfrm>
          <a:prstGeom prst="rect">
            <a:avLst/>
          </a:prstGeom>
        </p:spPr>
      </p:pic>
      <p:sp>
        <p:nvSpPr>
          <p:cNvPr id="2" name="Platshållare för bildnummer 5">
            <a:extLst>
              <a:ext uri="{FF2B5EF4-FFF2-40B4-BE49-F238E27FC236}">
                <a16:creationId xmlns:a16="http://schemas.microsoft.com/office/drawing/2014/main" id="{800B81CE-594B-242D-B516-8FEDAAB24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2783" y="4963500"/>
            <a:ext cx="541217" cy="180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10C4E4B-DC7F-8F40-B47C-DF522102C54B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E76F2179-48B1-4CDB-4F1A-0451AB5EDC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1723" y="4962854"/>
            <a:ext cx="961545" cy="182193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>
                    <a:lumMod val="50000"/>
                  </a:schemeClr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78286638-E000-784D-B9E7-19A664CA2261}" type="datetime1">
              <a:rPr lang="sv-SE" smtClean="0"/>
              <a:t>2025-05-01</a:t>
            </a:fld>
            <a:endParaRPr lang="sv-SE" dirty="0"/>
          </a:p>
        </p:txBody>
      </p:sp>
      <p:sp>
        <p:nvSpPr>
          <p:cNvPr id="6" name="Platshållare för sidfot 4">
            <a:extLst>
              <a:ext uri="{FF2B5EF4-FFF2-40B4-BE49-F238E27FC236}">
                <a16:creationId xmlns:a16="http://schemas.microsoft.com/office/drawing/2014/main" id="{785B1E7C-57B2-5C9B-DBEB-CE0095758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13268" y="4963500"/>
            <a:ext cx="2895600" cy="1800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sv-SE"/>
              <a:t>Sidfot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08004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A00F275-195F-A6E1-20C7-67CDE354B6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C4E4B-DC7F-8F40-B47C-DF522102C54B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3144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540000" y="45793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1027" name="Platshållare för text 2"/>
          <p:cNvSpPr>
            <a:spLocks noGrp="1"/>
          </p:cNvSpPr>
          <p:nvPr>
            <p:ph type="body" idx="1"/>
          </p:nvPr>
        </p:nvSpPr>
        <p:spPr bwMode="auto">
          <a:xfrm>
            <a:off x="551723" y="1340827"/>
            <a:ext cx="8217877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</p:txBody>
      </p:sp>
      <p:sp>
        <p:nvSpPr>
          <p:cNvPr id="9" name="Rektangel med rundade hörn 8">
            <a:extLst>
              <a:ext uri="{FF2B5EF4-FFF2-40B4-BE49-F238E27FC236}">
                <a16:creationId xmlns:a16="http://schemas.microsoft.com/office/drawing/2014/main" id="{4B6B4981-C9B1-9748-9283-25FD3DE9159D}"/>
              </a:ext>
            </a:extLst>
          </p:cNvPr>
          <p:cNvSpPr>
            <a:spLocks/>
          </p:cNvSpPr>
          <p:nvPr userDrawn="1"/>
        </p:nvSpPr>
        <p:spPr>
          <a:xfrm>
            <a:off x="180000" y="180000"/>
            <a:ext cx="8784000" cy="4784400"/>
          </a:xfrm>
          <a:prstGeom prst="roundRect">
            <a:avLst>
              <a:gd name="adj" fmla="val 1131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F45A2FF4-6AE9-CA42-AFD5-9EB14B3A0A0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552714" y="4310584"/>
            <a:ext cx="1229903" cy="468000"/>
          </a:xfrm>
          <a:prstGeom prst="rect">
            <a:avLst/>
          </a:prstGeom>
        </p:spPr>
      </p:pic>
      <p:sp>
        <p:nvSpPr>
          <p:cNvPr id="2" name="Platshållare för bildnummer 5">
            <a:extLst>
              <a:ext uri="{FF2B5EF4-FFF2-40B4-BE49-F238E27FC236}">
                <a16:creationId xmlns:a16="http://schemas.microsoft.com/office/drawing/2014/main" id="{DB865ABF-A620-BE21-D242-6001A3E82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2783" y="4963500"/>
            <a:ext cx="541217" cy="180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10C4E4B-DC7F-8F40-B47C-DF522102C54B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59" r:id="rId2"/>
    <p:sldLayoutId id="2147483760" r:id="rId3"/>
    <p:sldLayoutId id="2147483762" r:id="rId4"/>
    <p:sldLayoutId id="2147483764" r:id="rId5"/>
    <p:sldLayoutId id="2147483768" r:id="rId6"/>
    <p:sldLayoutId id="2147483770" r:id="rId7"/>
    <p:sldLayoutId id="2147483771" r:id="rId8"/>
    <p:sldLayoutId id="2147483765" r:id="rId9"/>
    <p:sldLayoutId id="2147483773" r:id="rId10"/>
    <p:sldLayoutId id="2147483774" r:id="rId11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2655A58-0C76-E84E-8521-F05BACB0E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98" y="179100"/>
            <a:ext cx="8784000" cy="4779762"/>
          </a:xfrm>
        </p:spPr>
        <p:txBody>
          <a:bodyPr/>
          <a:lstStyle/>
          <a:p>
            <a:r>
              <a:rPr lang="en-US" noProof="0" dirty="0"/>
              <a:t>Project Assignment – Regression Analysis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8C177951-D2D5-0B4C-A487-7FFD488DD7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David </a:t>
            </a:r>
            <a:r>
              <a:rPr lang="en-US" noProof="0" dirty="0" err="1"/>
              <a:t>Lienkamp</a:t>
            </a:r>
            <a:r>
              <a:rPr lang="en-US" noProof="0" dirty="0"/>
              <a:t>, Sevval Sagir, Raphael Sommer </a:t>
            </a:r>
          </a:p>
        </p:txBody>
      </p:sp>
    </p:spTree>
    <p:extLst>
      <p:ext uri="{BB962C8B-B14F-4D97-AF65-F5344CB8AC3E}">
        <p14:creationId xmlns:p14="http://schemas.microsoft.com/office/powerpoint/2010/main" val="664235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1628E-E61F-E595-0D73-97EC66E06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8FFF86-F2EA-5756-926F-E07F79D3A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68C28A9-210F-262C-1AB2-5A1D803DB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Exercise &amp; Aim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D7FBA-0F56-7A1E-377A-2BEA5BE9064A}"/>
              </a:ext>
            </a:extLst>
          </p:cNvPr>
          <p:cNvSpPr txBox="1"/>
          <p:nvPr/>
        </p:nvSpPr>
        <p:spPr>
          <a:xfrm>
            <a:off x="447674" y="1102519"/>
            <a:ext cx="8248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rgbClr val="51AA00"/>
                </a:solidFill>
              </a:rPr>
              <a:t>Given: </a:t>
            </a:r>
          </a:p>
          <a:p>
            <a:r>
              <a:rPr lang="en-US" sz="1600" noProof="0" dirty="0"/>
              <a:t>Car data of 52 models (different parameters like Power, Weight, etc.)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D3E73F-8BCB-73F9-A178-FA1F6A55FF79}"/>
              </a:ext>
            </a:extLst>
          </p:cNvPr>
          <p:cNvSpPr txBox="1"/>
          <p:nvPr/>
        </p:nvSpPr>
        <p:spPr>
          <a:xfrm>
            <a:off x="447674" y="1971180"/>
            <a:ext cx="8248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rgbClr val="51AA00"/>
                </a:solidFill>
              </a:rPr>
              <a:t>To predict: </a:t>
            </a:r>
          </a:p>
          <a:p>
            <a:r>
              <a:rPr lang="en-US" sz="1600" noProof="0" dirty="0"/>
              <a:t>Missing car data of 5 models (Acceleration, Max. Speed, Fuel Consumption &amp; Price)</a:t>
            </a:r>
          </a:p>
        </p:txBody>
      </p:sp>
    </p:spTree>
    <p:extLst>
      <p:ext uri="{BB962C8B-B14F-4D97-AF65-F5344CB8AC3E}">
        <p14:creationId xmlns:p14="http://schemas.microsoft.com/office/powerpoint/2010/main" val="2902000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E6A2C-ED4D-4C00-BF6A-BCCB5F1D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57051C-B406-648B-E033-82421751B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73DBBDFE-A9F3-B5C3-8533-20FA61C70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General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B4C4E-87BF-AC76-AB59-923C16EAAE01}"/>
              </a:ext>
            </a:extLst>
          </p:cNvPr>
          <p:cNvSpPr txBox="1"/>
          <p:nvPr/>
        </p:nvSpPr>
        <p:spPr>
          <a:xfrm>
            <a:off x="447674" y="1102519"/>
            <a:ext cx="824865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600" noProof="0" dirty="0">
                <a:solidFill>
                  <a:srgbClr val="51AA00"/>
                </a:solidFill>
              </a:rPr>
              <a:t>Choose </a:t>
            </a:r>
            <a:r>
              <a:rPr lang="en-US" sz="1600" noProof="0" dirty="0" err="1">
                <a:solidFill>
                  <a:srgbClr val="51AA00"/>
                </a:solidFill>
              </a:rPr>
              <a:t>continous</a:t>
            </a:r>
            <a:r>
              <a:rPr lang="en-US" sz="1600" noProof="0" dirty="0">
                <a:solidFill>
                  <a:srgbClr val="51AA00"/>
                </a:solidFill>
              </a:rPr>
              <a:t>/categorical predictors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400" noProof="0" dirty="0"/>
              <a:t>Apply common knowledge, research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400" noProof="0" dirty="0"/>
              <a:t>Minitab’s “Best Subset” feature (to get a hint on which parameters could potentially give a good R</a:t>
            </a:r>
            <a:r>
              <a:rPr lang="en-US" sz="1400" baseline="30000" noProof="0" dirty="0"/>
              <a:t>2</a:t>
            </a:r>
            <a:r>
              <a:rPr lang="en-US" sz="1400" noProof="0" dirty="0"/>
              <a:t>-value)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noProof="0" dirty="0">
                <a:solidFill>
                  <a:srgbClr val="51AA00"/>
                </a:solidFill>
              </a:rPr>
              <a:t>Assess and adapt feasible p- and VIF-values (p &lt; 0.05, VIF &lt; 10)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400" noProof="0" dirty="0"/>
              <a:t>Transform/create predictors (apply common knowledge by e.g. creating ratios)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400" noProof="0" dirty="0"/>
              <a:t>Standardize predictors (subtract the mean, divide by standard deviation)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noProof="0" dirty="0">
                <a:solidFill>
                  <a:srgbClr val="51AA00"/>
                </a:solidFill>
              </a:rPr>
              <a:t>Assess and adapt residual plots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400" noProof="0" dirty="0"/>
              <a:t>Normal </a:t>
            </a:r>
            <a:r>
              <a:rPr lang="en-US" sz="1400" noProof="0" dirty="0" err="1"/>
              <a:t>propability</a:t>
            </a:r>
            <a:r>
              <a:rPr lang="en-US" sz="1400" noProof="0" dirty="0"/>
              <a:t> plot: Remove obvious outliers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400" noProof="0" dirty="0"/>
              <a:t>Versus fits patterns: Create interaction terms (!! standardization necessary due to high VIF-values)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noProof="0" dirty="0">
                <a:solidFill>
                  <a:srgbClr val="51AA00"/>
                </a:solidFill>
              </a:rPr>
              <a:t>Assess and improve R</a:t>
            </a:r>
            <a:r>
              <a:rPr lang="en-US" sz="1600" baseline="30000" noProof="0" dirty="0">
                <a:solidFill>
                  <a:srgbClr val="51AA00"/>
                </a:solidFill>
              </a:rPr>
              <a:t>2</a:t>
            </a:r>
            <a:r>
              <a:rPr lang="en-US" sz="1600" noProof="0" dirty="0">
                <a:solidFill>
                  <a:srgbClr val="51AA00"/>
                </a:solidFill>
              </a:rPr>
              <a:t>-value (if necessary)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400" noProof="0" dirty="0"/>
              <a:t>Apply Box-Cox transformation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solidFill>
                  <a:srgbClr val="51AA00"/>
                </a:solidFill>
              </a:rPr>
              <a:t>Assess predictions if they are logical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400" noProof="0" dirty="0"/>
              <a:t>If not, redo process steps 1-4</a:t>
            </a:r>
          </a:p>
        </p:txBody>
      </p:sp>
    </p:spTree>
    <p:extLst>
      <p:ext uri="{BB962C8B-B14F-4D97-AF65-F5344CB8AC3E}">
        <p14:creationId xmlns:p14="http://schemas.microsoft.com/office/powerpoint/2010/main" val="3943053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C5C58-11A1-CF67-10B7-6D0230D82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32E629-D78D-CF7D-594F-B438DD4B5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69116503-3F06-4C9B-3B60-B87F48E3F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Acceleration – 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7DDCD8-0C23-C7D8-2A13-A3D39ADC0EDD}"/>
              </a:ext>
            </a:extLst>
          </p:cNvPr>
          <p:cNvSpPr txBox="1"/>
          <p:nvPr/>
        </p:nvSpPr>
        <p:spPr>
          <a:xfrm>
            <a:off x="447674" y="1102519"/>
            <a:ext cx="8248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rgbClr val="51AA00"/>
                </a:solidFill>
              </a:rPr>
              <a:t>Common knowledge: </a:t>
            </a:r>
          </a:p>
          <a:p>
            <a:r>
              <a:rPr lang="en-US" sz="1600" noProof="0" dirty="0"/>
              <a:t>Power, Weight, Max Torque &amp; Turbo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90ED4-331F-4DC8-E294-1396AB677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4" y="1959297"/>
            <a:ext cx="4715142" cy="253365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5EFD81-2A41-8831-7715-6D3CA20AB529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162816" y="3059508"/>
            <a:ext cx="686781" cy="1666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B789C7-3D90-60C6-4083-AD6507FC41D0}"/>
              </a:ext>
            </a:extLst>
          </p:cNvPr>
          <p:cNvSpPr txBox="1"/>
          <p:nvPr/>
        </p:nvSpPr>
        <p:spPr>
          <a:xfrm>
            <a:off x="5849597" y="2151567"/>
            <a:ext cx="27132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600" noProof="0" dirty="0"/>
              <a:t>Create common knowledge ratios: hp/kg (Power/Weight ratio) &amp; RPM (Hp = Nm * RPM / 5252)</a:t>
            </a:r>
          </a:p>
          <a:p>
            <a:pPr marL="342900" indent="-342900">
              <a:buAutoNum type="arabicPeriod"/>
            </a:pPr>
            <a:r>
              <a:rPr lang="en-US" sz="1600" dirty="0"/>
              <a:t>Standardize predictors</a:t>
            </a:r>
          </a:p>
          <a:p>
            <a:pPr marL="342900" indent="-342900">
              <a:buAutoNum type="arabicPeriod"/>
            </a:pPr>
            <a:r>
              <a:rPr lang="en-US" sz="1600" dirty="0"/>
              <a:t>Create interaction term</a:t>
            </a:r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1029107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569FD-D7EB-4062-E457-C731A1B9D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97CC50-0226-816A-D0C9-58B1E24B5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4C44FC5-7F9F-1478-3EDE-93FC7B110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Regression Model – Acceleration (1)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8B200E-E1EA-ABF0-5584-5914131B0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30" y="910690"/>
            <a:ext cx="6783050" cy="393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61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BE008-684B-F496-799B-0252E0495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A206512-64B3-80FF-A7B1-7AB4BB6F9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58B415E5-A9DE-7F57-F5DF-BEA6F45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Regression Model – Acceleration (2)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14FD1E-9F17-CA1E-0008-89BC40A4B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47" y="965265"/>
            <a:ext cx="3657600" cy="1273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9E61F9-3B03-691D-E194-7578C9E4C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48" y="2238998"/>
            <a:ext cx="3657600" cy="243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28EEFE-1894-A4C7-C622-6CB92A31F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153" y="1352550"/>
            <a:ext cx="36576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415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9DF5-EF8F-95AD-CD56-BF21EC645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8C14EC-FDC6-7739-730C-E303D359A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96E94372-A18C-2F62-D0B4-C76347F22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Maximum Speed – 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085403-4D3F-FA01-3518-FF0082C5BDFA}"/>
              </a:ext>
            </a:extLst>
          </p:cNvPr>
          <p:cNvSpPr txBox="1"/>
          <p:nvPr/>
        </p:nvSpPr>
        <p:spPr>
          <a:xfrm>
            <a:off x="447674" y="1102519"/>
            <a:ext cx="8248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rgbClr val="51AA00"/>
                </a:solidFill>
              </a:rPr>
              <a:t>Minitab’s Best subset with just 2 predictors:</a:t>
            </a:r>
          </a:p>
          <a:p>
            <a:r>
              <a:rPr lang="en-US" sz="1600" noProof="0" dirty="0"/>
              <a:t>Power, Acceleration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E5D33D-DCF0-5B55-9721-449E7C710B09}"/>
              </a:ext>
            </a:extLst>
          </p:cNvPr>
          <p:cNvCxnSpPr>
            <a:cxnSpLocks/>
          </p:cNvCxnSpPr>
          <p:nvPr/>
        </p:nvCxnSpPr>
        <p:spPr>
          <a:xfrm>
            <a:off x="4457211" y="3477030"/>
            <a:ext cx="7386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3856CC7-C2EF-3C4F-D251-D8480559F9B8}"/>
              </a:ext>
            </a:extLst>
          </p:cNvPr>
          <p:cNvSpPr txBox="1"/>
          <p:nvPr/>
        </p:nvSpPr>
        <p:spPr>
          <a:xfrm>
            <a:off x="5206890" y="3307753"/>
            <a:ext cx="27132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600" noProof="0" dirty="0"/>
              <a:t>Remove outlier</a:t>
            </a:r>
            <a:endParaRPr lang="en-DE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023F86-28EA-BEB3-0C8C-47742AAAB4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191"/>
          <a:stretch/>
        </p:blipFill>
        <p:spPr>
          <a:xfrm>
            <a:off x="5681108" y="925098"/>
            <a:ext cx="2239072" cy="11422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CEB810-2F59-C626-88C5-7A30B571B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51567"/>
            <a:ext cx="3657600" cy="24384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203F628-F0D2-CE52-06A5-F49680EF417C}"/>
              </a:ext>
            </a:extLst>
          </p:cNvPr>
          <p:cNvSpPr/>
          <p:nvPr/>
        </p:nvSpPr>
        <p:spPr>
          <a:xfrm>
            <a:off x="948584" y="3085032"/>
            <a:ext cx="230736" cy="23073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194619E-45AE-C666-5E7F-1FE1BC6AC5B9}"/>
              </a:ext>
            </a:extLst>
          </p:cNvPr>
          <p:cNvSpPr/>
          <p:nvPr/>
        </p:nvSpPr>
        <p:spPr>
          <a:xfrm>
            <a:off x="3804673" y="3054441"/>
            <a:ext cx="230736" cy="23073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D3A6AD4-BD92-5DB0-65E9-2873D16E579D}"/>
              </a:ext>
            </a:extLst>
          </p:cNvPr>
          <p:cNvSpPr/>
          <p:nvPr/>
        </p:nvSpPr>
        <p:spPr>
          <a:xfrm>
            <a:off x="959872" y="4238978"/>
            <a:ext cx="230736" cy="23073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88842B6-F777-542A-E686-2E5715FB3061}"/>
              </a:ext>
            </a:extLst>
          </p:cNvPr>
          <p:cNvSpPr/>
          <p:nvPr/>
        </p:nvSpPr>
        <p:spPr>
          <a:xfrm>
            <a:off x="2850761" y="4188178"/>
            <a:ext cx="230736" cy="23073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35148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8615F-2C54-922C-3F51-52185A039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6F23FF-4C99-5F36-3C9F-F3B33BD7D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49C6D602-873C-3463-526B-4C0CEF057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Regression Model – Max. Speed (1)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35DAA8-BA1D-4521-96BF-A4D5CD5F5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83621"/>
            <a:ext cx="68072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4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272DA-FE80-F49F-8EC4-263E57E6D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48345D-4C2C-285E-E0D3-50FEE18FB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74732AB7-20B8-0B26-C287-BA34E62F4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Regression Model – Max. Speed (2)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C528E6-1E8C-F409-96BB-A4D2FDD7B8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4562" y="965265"/>
            <a:ext cx="3652970" cy="1273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348B70-16BF-6601-F792-4BF49D51D1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2248" y="2238998"/>
            <a:ext cx="3657600" cy="243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E4DD9D-FF61-8658-EDE0-889B647826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84153" y="1352550"/>
            <a:ext cx="36576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56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524F9-AB91-EA13-C719-93EF3CB5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3AC524-85ED-9FBB-53F0-5AB64C223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319D2DC-66C2-BE74-AE53-1351BDE39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Fuel Consumption – 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7FB75C-9C41-897D-4AB0-81A3A118D342}"/>
              </a:ext>
            </a:extLst>
          </p:cNvPr>
          <p:cNvSpPr txBox="1"/>
          <p:nvPr/>
        </p:nvSpPr>
        <p:spPr>
          <a:xfrm>
            <a:off x="447674" y="1102519"/>
            <a:ext cx="8248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rgbClr val="51AA00"/>
                </a:solidFill>
              </a:rPr>
              <a:t>Common knowledge + Minitab’s Best Subset: </a:t>
            </a:r>
          </a:p>
          <a:p>
            <a:r>
              <a:rPr lang="en-US" sz="1600" noProof="0" dirty="0"/>
              <a:t>Power, Weight + Cylinders </a:t>
            </a:r>
            <a:r>
              <a:rPr lang="en-US" sz="1600" noProof="0" dirty="0">
                <a:sym typeface="Wingdings" pitchFamily="2" charset="2"/>
              </a:rPr>
              <a:t> Power/Weight Ratio, Cylinders</a:t>
            </a:r>
            <a:endParaRPr lang="en-US" sz="160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3F7F54-3845-9641-D286-0E40E464C32F}"/>
              </a:ext>
            </a:extLst>
          </p:cNvPr>
          <p:cNvSpPr txBox="1"/>
          <p:nvPr/>
        </p:nvSpPr>
        <p:spPr>
          <a:xfrm>
            <a:off x="3215354" y="2851369"/>
            <a:ext cx="27132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/>
              <a:t>No “issues”</a:t>
            </a:r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4240701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C0A8-1642-72E4-3851-468A757F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7ABC00-491F-092D-84E4-73E36C1D0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F0DC282D-24D4-8522-CEA0-D9C898253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Regression Model – Fuel Cons. (1)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A8EC9C-CE94-A15C-C229-57AB191A6E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1189740"/>
            <a:ext cx="6807200" cy="33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81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874EF-63BB-DC78-B033-339BACF43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3F8BFB-37CD-E8D2-0FCF-64FCF8CAB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8F8A46FA-95F5-B7D3-8BA8-1BF150F33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Regression Model – Fuel Cons. (2)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58DF0D-8D1A-DDDE-6B03-DD325E3C13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4562" y="977591"/>
            <a:ext cx="3652970" cy="1249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E279D6-9D47-A071-CE80-66C414F81D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2248" y="2238998"/>
            <a:ext cx="3657600" cy="243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A8DDA9-EDB0-1461-4F13-18207D4358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84153" y="1352550"/>
            <a:ext cx="36576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267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FED56-1075-37DA-0BAD-5E1294FF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1383E-857B-415D-7F23-12BF3B514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6790CFC-A23E-C3E4-EDDA-7C1CA146B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Price – Methodology (1)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D2C74D-EB72-7C6E-DDCC-73486EE25682}"/>
              </a:ext>
            </a:extLst>
          </p:cNvPr>
          <p:cNvSpPr txBox="1"/>
          <p:nvPr/>
        </p:nvSpPr>
        <p:spPr>
          <a:xfrm>
            <a:off x="447674" y="1102519"/>
            <a:ext cx="8248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rgbClr val="51AA00"/>
                </a:solidFill>
              </a:rPr>
              <a:t>Minitab’s Best Subset:</a:t>
            </a:r>
          </a:p>
          <a:p>
            <a:r>
              <a:rPr lang="en-US" sz="1600" noProof="0" dirty="0"/>
              <a:t>Power, Acceleration, Fuel Consumption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C73FF-36F8-7B10-AEE6-436EAE1D06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7674" y="1959296"/>
            <a:ext cx="3632761" cy="253365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CD5C4A-078A-BFF2-C1F4-44C60C1FC0AE}"/>
              </a:ext>
            </a:extLst>
          </p:cNvPr>
          <p:cNvCxnSpPr>
            <a:cxnSpLocks/>
            <a:stCxn id="10" idx="2"/>
            <a:endCxn id="11" idx="1"/>
          </p:cNvCxnSpPr>
          <p:nvPr/>
        </p:nvCxnSpPr>
        <p:spPr>
          <a:xfrm>
            <a:off x="6043951" y="3577354"/>
            <a:ext cx="240795" cy="2892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D543107-E424-DF0D-0A3A-4D26ED7FB449}"/>
              </a:ext>
            </a:extLst>
          </p:cNvPr>
          <p:cNvSpPr txBox="1"/>
          <p:nvPr/>
        </p:nvSpPr>
        <p:spPr>
          <a:xfrm>
            <a:off x="6284746" y="3697366"/>
            <a:ext cx="21355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/>
              <a:t>Remove outlier</a:t>
            </a:r>
            <a:endParaRPr lang="en-DE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35A899-595D-9A21-CD70-18DF50C0EF3E}"/>
              </a:ext>
            </a:extLst>
          </p:cNvPr>
          <p:cNvSpPr txBox="1"/>
          <p:nvPr/>
        </p:nvSpPr>
        <p:spPr>
          <a:xfrm>
            <a:off x="2946902" y="4040981"/>
            <a:ext cx="11335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/>
              <a:t>“ok”, but:</a:t>
            </a:r>
            <a:endParaRPr lang="en-DE" sz="1600" dirty="0"/>
          </a:p>
        </p:txBody>
      </p:sp>
      <p:pic>
        <p:nvPicPr>
          <p:cNvPr id="10" name="Picture 9" descr="A graph with blue dots&#10;&#10;AI-generated content may be incorrect.">
            <a:extLst>
              <a:ext uri="{FF2B5EF4-FFF2-40B4-BE49-F238E27FC236}">
                <a16:creationId xmlns:a16="http://schemas.microsoft.com/office/drawing/2014/main" id="{A95E92C8-3D40-31D6-DEDD-EEC3922AAF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3"/>
          <a:stretch/>
        </p:blipFill>
        <p:spPr>
          <a:xfrm>
            <a:off x="4735376" y="1959296"/>
            <a:ext cx="2617149" cy="161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979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6B9AB-8988-CE43-F0F4-C3DF26DA4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086709-E6ED-6EE5-88B3-3DB8D59FC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DA3FFDCE-8BF5-E7BE-6696-39A60E853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Price – Methodology (2)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8E60D2-EC38-619D-833C-D2332ABBE2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6295" y="1120153"/>
            <a:ext cx="4331490" cy="303538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1DAF37-8223-25C4-0C1B-8B8D350BCA58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787785" y="2637847"/>
            <a:ext cx="511539" cy="2988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587497A-7031-F127-B928-375A2AAFA5AE}"/>
              </a:ext>
            </a:extLst>
          </p:cNvPr>
          <p:cNvSpPr txBox="1"/>
          <p:nvPr/>
        </p:nvSpPr>
        <p:spPr>
          <a:xfrm>
            <a:off x="5299324" y="2398097"/>
            <a:ext cx="33883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/>
              <a:t>Remove non-significant predictor</a:t>
            </a:r>
          </a:p>
          <a:p>
            <a:pPr marL="342900" indent="-342900">
              <a:buAutoNum type="arabicPeriod"/>
            </a:pPr>
            <a:r>
              <a:rPr lang="en-US" sz="1600" dirty="0"/>
              <a:t>Standardize predictors</a:t>
            </a:r>
          </a:p>
          <a:p>
            <a:pPr marL="342900" indent="-342900">
              <a:buAutoNum type="arabicPeriod"/>
            </a:pPr>
            <a:r>
              <a:rPr lang="en-US" sz="1600" dirty="0"/>
              <a:t>Apply Box-Cox transformation</a:t>
            </a:r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473769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91CD-AB73-210C-2340-A6CD07A3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66CB03-A022-788F-93AD-DBC1F0C06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B01303E-CC9F-E543-6F40-86265BDA0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Regression Model – Prize (1)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DE189A-1848-6FC2-A6A6-C8728307E9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1684" y="933425"/>
            <a:ext cx="4173647" cy="394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156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9D112-2916-4EAC-187E-F1A6B5914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A5A9D6-E471-20A2-A79F-8A0CFDD5D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92FC1707-F93B-8157-9526-0DD3B2A04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Regression Model – Prize (2)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5EA37D-BD16-39E2-90E0-D2DA71C84A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4562" y="1037293"/>
            <a:ext cx="3652970" cy="1129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B16C53-FBC7-CED9-AF0F-EC9CEFD00D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2248" y="2238998"/>
            <a:ext cx="3657600" cy="243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0F74DF-DB82-E81E-C9F7-733E715354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84153" y="1352550"/>
            <a:ext cx="36576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32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EBCB0-CDC4-F9AD-4128-7C88AD492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E23379D-077C-4E8C-776B-294473F7A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17</a:t>
            </a:fld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575EDF-026C-7047-C495-86D833696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393865"/>
              </p:ext>
            </p:extLst>
          </p:nvPr>
        </p:nvGraphicFramePr>
        <p:xfrm>
          <a:off x="279115" y="991813"/>
          <a:ext cx="8585770" cy="186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3731">
                  <a:extLst>
                    <a:ext uri="{9D8B030D-6E8A-4147-A177-3AD203B41FA5}">
                      <a16:colId xmlns:a16="http://schemas.microsoft.com/office/drawing/2014/main" val="3056099091"/>
                    </a:ext>
                  </a:extLst>
                </a:gridCol>
                <a:gridCol w="1670577">
                  <a:extLst>
                    <a:ext uri="{9D8B030D-6E8A-4147-A177-3AD203B41FA5}">
                      <a16:colId xmlns:a16="http://schemas.microsoft.com/office/drawing/2014/main" val="4221206097"/>
                    </a:ext>
                  </a:extLst>
                </a:gridCol>
                <a:gridCol w="1717154">
                  <a:extLst>
                    <a:ext uri="{9D8B030D-6E8A-4147-A177-3AD203B41FA5}">
                      <a16:colId xmlns:a16="http://schemas.microsoft.com/office/drawing/2014/main" val="3701009010"/>
                    </a:ext>
                  </a:extLst>
                </a:gridCol>
                <a:gridCol w="1717154">
                  <a:extLst>
                    <a:ext uri="{9D8B030D-6E8A-4147-A177-3AD203B41FA5}">
                      <a16:colId xmlns:a16="http://schemas.microsoft.com/office/drawing/2014/main" val="1923372927"/>
                    </a:ext>
                  </a:extLst>
                </a:gridCol>
                <a:gridCol w="1717154">
                  <a:extLst>
                    <a:ext uri="{9D8B030D-6E8A-4147-A177-3AD203B41FA5}">
                      <a16:colId xmlns:a16="http://schemas.microsoft.com/office/drawing/2014/main" val="2038761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Acceleration </a:t>
                      </a:r>
                      <a:br>
                        <a:rPr lang="en-US" sz="1100" noProof="0" dirty="0"/>
                      </a:br>
                      <a:r>
                        <a:rPr lang="en-US" sz="1100" noProof="0" dirty="0"/>
                        <a:t>[sec.]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Maximum Speed [km/h]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Fuel Consumption [l/100km]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Price </a:t>
                      </a:r>
                      <a:br>
                        <a:rPr lang="en-US" sz="1100" noProof="0" dirty="0"/>
                      </a:br>
                      <a:r>
                        <a:rPr lang="en-US" sz="1100" noProof="0" dirty="0"/>
                        <a:t>[€]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93655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Car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12.2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185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7.2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16578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69198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Car #2</a:t>
                      </a:r>
                    </a:p>
                  </a:txBody>
                  <a:tcPr>
                    <a:solidFill>
                      <a:srgbClr val="51AA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3.2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337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22.4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237445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84988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Car 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10.5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197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7.4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18942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65607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Car 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10.8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192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7.2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17125</a:t>
                      </a:r>
                    </a:p>
                  </a:txBody>
                  <a:tcPr>
                    <a:solidFill>
                      <a:srgbClr val="D0E2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120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Car 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10.2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22742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4012"/>
                  </a:ext>
                </a:extLst>
              </a:tr>
            </a:tbl>
          </a:graphicData>
        </a:graphic>
      </p:graphicFrame>
      <p:sp>
        <p:nvSpPr>
          <p:cNvPr id="7" name="Titel 1">
            <a:extLst>
              <a:ext uri="{FF2B5EF4-FFF2-40B4-BE49-F238E27FC236}">
                <a16:creationId xmlns:a16="http://schemas.microsoft.com/office/drawing/2014/main" id="{E89373DC-D393-3BC1-751C-CE276FD74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Models' predictions</a:t>
            </a:r>
          </a:p>
        </p:txBody>
      </p:sp>
    </p:spTree>
    <p:extLst>
      <p:ext uri="{BB962C8B-B14F-4D97-AF65-F5344CB8AC3E}">
        <p14:creationId xmlns:p14="http://schemas.microsoft.com/office/powerpoint/2010/main" val="1483355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3B243D2-F82F-9BFA-CD02-54C72B12D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0B9BCD-137E-DD46-C20C-E0C613DCF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0C4E4B-DC7F-8F40-B47C-DF522102C54B}" type="slidenum">
              <a:rPr lang="en-US" noProof="0" smtClean="0"/>
              <a:pPr/>
              <a:t>18</a:t>
            </a:fld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B14804-1F3C-7A65-628C-55E905B71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624662"/>
              </p:ext>
            </p:extLst>
          </p:nvPr>
        </p:nvGraphicFramePr>
        <p:xfrm>
          <a:off x="279115" y="991813"/>
          <a:ext cx="8585770" cy="3882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3731">
                  <a:extLst>
                    <a:ext uri="{9D8B030D-6E8A-4147-A177-3AD203B41FA5}">
                      <a16:colId xmlns:a16="http://schemas.microsoft.com/office/drawing/2014/main" val="3056099091"/>
                    </a:ext>
                  </a:extLst>
                </a:gridCol>
                <a:gridCol w="1670577">
                  <a:extLst>
                    <a:ext uri="{9D8B030D-6E8A-4147-A177-3AD203B41FA5}">
                      <a16:colId xmlns:a16="http://schemas.microsoft.com/office/drawing/2014/main" val="4221206097"/>
                    </a:ext>
                  </a:extLst>
                </a:gridCol>
                <a:gridCol w="1717154">
                  <a:extLst>
                    <a:ext uri="{9D8B030D-6E8A-4147-A177-3AD203B41FA5}">
                      <a16:colId xmlns:a16="http://schemas.microsoft.com/office/drawing/2014/main" val="3701009010"/>
                    </a:ext>
                  </a:extLst>
                </a:gridCol>
                <a:gridCol w="1717154">
                  <a:extLst>
                    <a:ext uri="{9D8B030D-6E8A-4147-A177-3AD203B41FA5}">
                      <a16:colId xmlns:a16="http://schemas.microsoft.com/office/drawing/2014/main" val="1923372927"/>
                    </a:ext>
                  </a:extLst>
                </a:gridCol>
                <a:gridCol w="1717154">
                  <a:extLst>
                    <a:ext uri="{9D8B030D-6E8A-4147-A177-3AD203B41FA5}">
                      <a16:colId xmlns:a16="http://schemas.microsoft.com/office/drawing/2014/main" val="2038761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Acceleration </a:t>
                      </a:r>
                      <a:br>
                        <a:rPr lang="en-US" sz="1100" noProof="0" dirty="0"/>
                      </a:br>
                      <a:r>
                        <a:rPr lang="en-US" sz="1100" noProof="0" dirty="0"/>
                        <a:t>[sec.]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Maximum Speed [km/h]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Fuel Consumption [l/100km]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noProof="0" dirty="0"/>
                        <a:t>Price </a:t>
                      </a:r>
                      <a:br>
                        <a:rPr lang="en-US" sz="1100" noProof="0" dirty="0"/>
                      </a:br>
                      <a:r>
                        <a:rPr lang="en-US" sz="1100" noProof="0" dirty="0"/>
                        <a:t>[€]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93655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Cylinders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69198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Valves/Cylinder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84988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Displacement [cc]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65607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Turbo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rgbClr val="D0E2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120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Power [hp]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4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Max Torque [nm]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48573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Length [mm]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76792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Width [mm]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1122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Height [mm]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86022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Weight [kg]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rgbClr val="D0E2C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rgbClr val="D0E2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065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Trunk Volume [l]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15945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Maximum Speed [km/h]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>
                    <a:solidFill>
                      <a:srgbClr val="D0E2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535429"/>
                  </a:ext>
                </a:extLst>
              </a:tr>
            </a:tbl>
          </a:graphicData>
        </a:graphic>
      </p:graphicFrame>
      <p:sp>
        <p:nvSpPr>
          <p:cNvPr id="7" name="Titel 1">
            <a:extLst>
              <a:ext uri="{FF2B5EF4-FFF2-40B4-BE49-F238E27FC236}">
                <a16:creationId xmlns:a16="http://schemas.microsoft.com/office/drawing/2014/main" id="{E18029E7-514D-8C4C-7ABF-B91590B62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102519"/>
          </a:xfrm>
        </p:spPr>
        <p:txBody>
          <a:bodyPr/>
          <a:lstStyle/>
          <a:p>
            <a:pPr algn="ctr"/>
            <a:r>
              <a:rPr lang="en-US" sz="3200" noProof="0" dirty="0"/>
              <a:t>Relevant parameters</a:t>
            </a:r>
          </a:p>
        </p:txBody>
      </p:sp>
    </p:spTree>
    <p:extLst>
      <p:ext uri="{BB962C8B-B14F-4D97-AF65-F5344CB8AC3E}">
        <p14:creationId xmlns:p14="http://schemas.microsoft.com/office/powerpoint/2010/main" val="803079230"/>
      </p:ext>
    </p:extLst>
  </p:cSld>
  <p:clrMapOvr>
    <a:masterClrMapping/>
  </p:clrMapOvr>
</p:sld>
</file>

<file path=ppt/theme/theme1.xml><?xml version="1.0" encoding="utf-8"?>
<a:theme xmlns:a="http://schemas.openxmlformats.org/drawingml/2006/main" name="HKRsvensk2016">
  <a:themeElements>
    <a:clrScheme name="Egen 1">
      <a:dk1>
        <a:srgbClr val="000000"/>
      </a:dk1>
      <a:lt1>
        <a:srgbClr val="FFFFFF"/>
      </a:lt1>
      <a:dk2>
        <a:srgbClr val="50AA00"/>
      </a:dk2>
      <a:lt2>
        <a:srgbClr val="FFFFFF"/>
      </a:lt2>
      <a:accent1>
        <a:srgbClr val="50AA00"/>
      </a:accent1>
      <a:accent2>
        <a:srgbClr val="148200"/>
      </a:accent2>
      <a:accent3>
        <a:srgbClr val="005A00"/>
      </a:accent3>
      <a:accent4>
        <a:srgbClr val="6E6E6E"/>
      </a:accent4>
      <a:accent5>
        <a:srgbClr val="A0A0A0"/>
      </a:accent5>
      <a:accent6>
        <a:srgbClr val="E10082"/>
      </a:accent6>
      <a:hlink>
        <a:srgbClr val="0A8200"/>
      </a:hlink>
      <a:folHlink>
        <a:srgbClr val="005A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KR Mall Engelsk" id="{A7AC62B3-ED5D-4B4F-B71F-32D2FBE5E84B}" vid="{A71D2804-D023-6F4F-9924-7FAD5CD2808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0AFD53EA4FAC4B93D1BAD879B4B205" ma:contentTypeVersion="20" ma:contentTypeDescription="Skapa ett nytt dokument." ma:contentTypeScope="" ma:versionID="d20458860b4e67c8a989bb88ba1189b9">
  <xsd:schema xmlns:xsd="http://www.w3.org/2001/XMLSchema" xmlns:xs="http://www.w3.org/2001/XMLSchema" xmlns:p="http://schemas.microsoft.com/office/2006/metadata/properties" xmlns:ns2="a27dfd0f-a6f2-4712-9137-d9a404cddc60" xmlns:ns3="661728cc-f8de-4546-bc23-5f5fdbb4708e" targetNamespace="http://schemas.microsoft.com/office/2006/metadata/properties" ma:root="true" ma:fieldsID="704e11bb582ec7a1851f532e774c0983" ns2:_="" ns3:_="">
    <xsd:import namespace="a27dfd0f-a6f2-4712-9137-d9a404cddc60"/>
    <xsd:import namespace="661728cc-f8de-4546-bc23-5f5fdbb470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Datum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7dfd0f-a6f2-4712-9137-d9a404cddc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Datum" ma:index="13" nillable="true" ma:displayName="Datum" ma:default="2019-01-08T01:00:00Z" ma:description="Datum möte" ma:format="DateOnly" ma:internalName="Datum">
      <xsd:simpleType>
        <xsd:restriction base="dms:DateTim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Bildmarkeringar" ma:readOnly="false" ma:fieldId="{5cf76f15-5ced-4ddc-b409-7134ff3c332f}" ma:taxonomyMulti="true" ma:sspId="7b39c0b7-3c9c-4b39-ade0-66cfcf86f4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1728cc-f8de-4546-bc23-5f5fdbb4708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f1ad556-de36-4b03-858a-c66ebca6ffac}" ma:internalName="TaxCatchAll" ma:showField="CatchAllData" ma:web="5d024ade-3791-46a7-9cec-16b154d5b1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27dfd0f-a6f2-4712-9137-d9a404cddc60">
      <Terms xmlns="http://schemas.microsoft.com/office/infopath/2007/PartnerControls"/>
    </lcf76f155ced4ddcb4097134ff3c332f>
    <Datum xmlns="a27dfd0f-a6f2-4712-9137-d9a404cddc60">2019-01-08T01:00:00+00:00</Datum>
    <TaxCatchAll xmlns="661728cc-f8de-4546-bc23-5f5fdbb4708e" xsi:nil="true"/>
  </documentManagement>
</p:properties>
</file>

<file path=customXml/itemProps1.xml><?xml version="1.0" encoding="utf-8"?>
<ds:datastoreItem xmlns:ds="http://schemas.openxmlformats.org/officeDocument/2006/customXml" ds:itemID="{4DA24E85-69A4-40E6-B457-5DEA4943BC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7dfd0f-a6f2-4712-9137-d9a404cddc60"/>
    <ds:schemaRef ds:uri="661728cc-f8de-4546-bc23-5f5fdbb470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8E330F-FAEB-43BD-88E9-B921C1D5AE7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F91B3D-EC90-430A-AB1E-F0238E505E8F}">
  <ds:schemaRefs>
    <ds:schemaRef ds:uri="http://schemas.microsoft.com/office/2006/metadata/properties"/>
    <ds:schemaRef ds:uri="http://schemas.microsoft.com/office/infopath/2007/PartnerControls"/>
    <ds:schemaRef ds:uri="a27dfd0f-a6f2-4712-9137-d9a404cddc60"/>
    <ds:schemaRef ds:uri="661728cc-f8de-4546-bc23-5f5fdbb4708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HKRsvensk2016</Template>
  <TotalTime>1596</TotalTime>
  <Words>523</Words>
  <Application>Microsoft Macintosh PowerPoint</Application>
  <PresentationFormat>On-screen Show (16:9)</PresentationFormat>
  <Paragraphs>117</Paragraphs>
  <Slides>18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HKRsvensk2016</vt:lpstr>
      <vt:lpstr>Project Assignment – Regression Analysis</vt:lpstr>
      <vt:lpstr>Exercise &amp; Aim</vt:lpstr>
      <vt:lpstr>General Methodology</vt:lpstr>
      <vt:lpstr>Acceleration – Methodology</vt:lpstr>
      <vt:lpstr>Regression Model – Acceleration (1)</vt:lpstr>
      <vt:lpstr>Regression Model – Acceleration (2)</vt:lpstr>
      <vt:lpstr>Maximum Speed – Methodology</vt:lpstr>
      <vt:lpstr>Regression Model – Max. Speed (1)</vt:lpstr>
      <vt:lpstr>Regression Model – Max. Speed (2)</vt:lpstr>
      <vt:lpstr>Fuel Consumption – Methodology</vt:lpstr>
      <vt:lpstr>Regression Model – Fuel Cons. (1)</vt:lpstr>
      <vt:lpstr>Regression Model – Fuel Cons. (2)</vt:lpstr>
      <vt:lpstr>Price – Methodology (1)</vt:lpstr>
      <vt:lpstr>Price – Methodology (2)</vt:lpstr>
      <vt:lpstr>Regression Model – Prize (1)</vt:lpstr>
      <vt:lpstr>Regression Model – Prize (2)</vt:lpstr>
      <vt:lpstr>Models' predictions</vt:lpstr>
      <vt:lpstr>Relevant parameters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Annelie Tillman</dc:creator>
  <cp:lastModifiedBy>Raphael Sommer</cp:lastModifiedBy>
  <cp:revision>6</cp:revision>
  <dcterms:created xsi:type="dcterms:W3CDTF">2023-11-01T13:13:28Z</dcterms:created>
  <dcterms:modified xsi:type="dcterms:W3CDTF">2025-05-02T10:48:14Z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0x010100830AFD53EA4FAC4B93D1BAD879B4B205</vt:lpwstr>
  </property>
  <property fmtid="{D5CDD505-2E9C-101B-9397-08002B2CF9AE}" pid="3" name="MSIP_Label_9144ccec-98ca-4847-b090-103d5c6592f4_Enabled">
    <vt:lpwstr>true</vt:lpwstr>
  </property>
  <property fmtid="{D5CDD505-2E9C-101B-9397-08002B2CF9AE}" pid="4" name="MSIP_Label_9144ccec-98ca-4847-b090-103d5c6592f4_SetDate">
    <vt:lpwstr>2023-11-01T13:03:55Z</vt:lpwstr>
  </property>
  <property fmtid="{D5CDD505-2E9C-101B-9397-08002B2CF9AE}" pid="5" name="MSIP_Label_9144ccec-98ca-4847-b090-103d5c6592f4_Method">
    <vt:lpwstr>Standard</vt:lpwstr>
  </property>
  <property fmtid="{D5CDD505-2E9C-101B-9397-08002B2CF9AE}" pid="6" name="MSIP_Label_9144ccec-98ca-4847-b090-103d5c6592f4_Name">
    <vt:lpwstr>Information class 1</vt:lpwstr>
  </property>
  <property fmtid="{D5CDD505-2E9C-101B-9397-08002B2CF9AE}" pid="7" name="MSIP_Label_9144ccec-98ca-4847-b090-103d5c6592f4_SiteId">
    <vt:lpwstr>fb665cd7-b4b7-4578-8a42-29ff69176bdf</vt:lpwstr>
  </property>
  <property fmtid="{D5CDD505-2E9C-101B-9397-08002B2CF9AE}" pid="8" name="MSIP_Label_9144ccec-98ca-4847-b090-103d5c6592f4_ActionId">
    <vt:lpwstr>51bbb8bc-73aa-469e-959f-ca75c0e83ba3</vt:lpwstr>
  </property>
  <property fmtid="{D5CDD505-2E9C-101B-9397-08002B2CF9AE}" pid="9" name="MSIP_Label_9144ccec-98ca-4847-b090-103d5c6592f4_ContentBits">
    <vt:lpwstr>0</vt:lpwstr>
  </property>
</Properties>
</file>